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5" autoAdjust="0"/>
    <p:restoredTop sz="94688" autoAdjust="0"/>
  </p:normalViewPr>
  <p:slideViewPr>
    <p:cSldViewPr>
      <p:cViewPr varScale="1">
        <p:scale>
          <a:sx n="110" d="100"/>
          <a:sy n="110" d="100"/>
        </p:scale>
        <p:origin x="-186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5DE9-2E17-49B6-8027-278EE9A6D2E0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0AD55-535A-4045-89C6-315618EBD0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370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5DE9-2E17-49B6-8027-278EE9A6D2E0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0AD55-535A-4045-89C6-315618EBD0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9862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5DE9-2E17-49B6-8027-278EE9A6D2E0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0AD55-535A-4045-89C6-315618EBD0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8978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5DE9-2E17-49B6-8027-278EE9A6D2E0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0AD55-535A-4045-89C6-315618EBD0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128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5DE9-2E17-49B6-8027-278EE9A6D2E0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0AD55-535A-4045-89C6-315618EBD0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3207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5DE9-2E17-49B6-8027-278EE9A6D2E0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0AD55-535A-4045-89C6-315618EBD0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8319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5DE9-2E17-49B6-8027-278EE9A6D2E0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0AD55-535A-4045-89C6-315618EBD0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761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5DE9-2E17-49B6-8027-278EE9A6D2E0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0AD55-535A-4045-89C6-315618EBD0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611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5DE9-2E17-49B6-8027-278EE9A6D2E0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0AD55-535A-4045-89C6-315618EBD0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0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5DE9-2E17-49B6-8027-278EE9A6D2E0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0AD55-535A-4045-89C6-315618EBD0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70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5DE9-2E17-49B6-8027-278EE9A6D2E0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0AD55-535A-4045-89C6-315618EBD0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309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A5DE9-2E17-49B6-8027-278EE9A6D2E0}" type="datetimeFigureOut">
              <a:rPr lang="ko-KR" altLang="en-US" smtClean="0"/>
              <a:t>2020-02-12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0AD55-535A-4045-89C6-315618EBD0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603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9834067/difference-between-char-and-const-char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윈도우즈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Api</a:t>
            </a:r>
            <a:r>
              <a:rPr lang="en-US" altLang="ko-KR" dirty="0" smtClean="0"/>
              <a:t> </a:t>
            </a:r>
            <a:r>
              <a:rPr lang="ko-KR" altLang="en-US" dirty="0" smtClean="0"/>
              <a:t>정복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2020.02.04 ~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025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API</a:t>
            </a:r>
            <a:r>
              <a:rPr lang="ko-KR" altLang="en-US" dirty="0" smtClean="0"/>
              <a:t>의 특장점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 smtClean="0"/>
              <a:t>GUI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 err="1" smtClean="0"/>
              <a:t>MultiTasking</a:t>
            </a:r>
            <a:endParaRPr lang="en-US" altLang="ko-KR" dirty="0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메시지 구동 시스템</a:t>
            </a:r>
            <a:endParaRPr lang="en-US" altLang="ko-KR" dirty="0" smtClean="0"/>
          </a:p>
          <a:p>
            <a:pPr lvl="1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MultiTasking</a:t>
            </a:r>
            <a:r>
              <a:rPr lang="en-US" altLang="ko-KR" dirty="0" smtClean="0"/>
              <a:t> </a:t>
            </a:r>
            <a:r>
              <a:rPr lang="ko-KR" altLang="ko-KR" dirty="0"/>
              <a:t>환경에서는 프로그램 하나가 시스템의 자원 독점 불가</a:t>
            </a:r>
            <a:r>
              <a:rPr lang="en-US" altLang="ko-KR" dirty="0"/>
              <a:t>.</a:t>
            </a:r>
            <a:endParaRPr lang="ko-KR" altLang="ko-KR" dirty="0"/>
          </a:p>
          <a:p>
            <a:pPr lvl="1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ko-KR" altLang="ko-KR" dirty="0"/>
              <a:t>따라서 운영체제가 대신 입력을 받아 전달하는 방식</a:t>
            </a:r>
          </a:p>
          <a:p>
            <a:pPr lvl="1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ko-KR" altLang="ko-KR" dirty="0"/>
              <a:t>결론</a:t>
            </a:r>
            <a:r>
              <a:rPr lang="en-US" altLang="ko-KR" dirty="0"/>
              <a:t> : </a:t>
            </a:r>
            <a:r>
              <a:rPr lang="ko-KR" altLang="ko-KR" dirty="0"/>
              <a:t>입력신호</a:t>
            </a:r>
            <a:r>
              <a:rPr lang="en-US" altLang="ko-KR" dirty="0"/>
              <a:t> = </a:t>
            </a:r>
            <a:r>
              <a:rPr lang="ko-KR" altLang="ko-KR" dirty="0"/>
              <a:t>메시지</a:t>
            </a:r>
            <a:r>
              <a:rPr lang="en-US" altLang="ko-KR" dirty="0"/>
              <a:t>, </a:t>
            </a:r>
            <a:r>
              <a:rPr lang="ko-KR" altLang="ko-KR" dirty="0"/>
              <a:t>응용프로그램은 메시지를 받아 동작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ko-KR" dirty="0"/>
              <a:t>사용자가 프로그램을 조작하는 순서</a:t>
            </a:r>
            <a:r>
              <a:rPr lang="en-US" altLang="ko-KR" dirty="0"/>
              <a:t>, </a:t>
            </a:r>
            <a:r>
              <a:rPr lang="ko-KR" altLang="ko-KR" dirty="0"/>
              <a:t>즉 발생하는 메시지의 순서를 따른다</a:t>
            </a:r>
            <a:r>
              <a:rPr lang="en-US" altLang="ko-KR" dirty="0" smtClean="0"/>
              <a:t>.)</a:t>
            </a:r>
            <a:br>
              <a:rPr lang="en-US" altLang="ko-KR" dirty="0" smtClean="0"/>
            </a:br>
            <a:endParaRPr lang="en-US" altLang="ko-KR" dirty="0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장치에 독립적</a:t>
            </a:r>
            <a:endParaRPr lang="en-US" altLang="ko-KR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ko-KR" dirty="0"/>
              <a:t>장치가 바뀌면 디바이스 드라이버를 교체하면 된다</a:t>
            </a:r>
            <a:r>
              <a:rPr lang="en-US" altLang="ko-KR" dirty="0"/>
              <a:t>.</a:t>
            </a:r>
            <a:endParaRPr lang="ko-KR" altLang="ko-K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ko-KR" dirty="0"/>
              <a:t>프로그램 그 자체를 만드는 데만 집중 </a:t>
            </a:r>
            <a:r>
              <a:rPr lang="ko-KR" altLang="ko-KR" dirty="0" smtClean="0"/>
              <a:t>가능</a:t>
            </a:r>
            <a:endParaRPr lang="en-US" altLang="ko-KR" dirty="0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일관성</a:t>
            </a:r>
            <a:endParaRPr lang="en-US" altLang="ko-KR" dirty="0" smtClean="0"/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lang="ko-KR" altLang="en-US" dirty="0" smtClean="0"/>
              <a:t>인터페이스 구성 표준화</a:t>
            </a:r>
            <a:endParaRPr lang="ko-KR" altLang="ko-KR" dirty="0"/>
          </a:p>
          <a:p>
            <a:pPr marL="914400" lvl="1" indent="-514350">
              <a:buFont typeface="Arial" panose="020B0604020202020204" pitchFamily="34" charset="0"/>
              <a:buChar char="•"/>
            </a:pPr>
            <a:endParaRPr lang="en-US" altLang="ko-KR" dirty="0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리소스 분리</a:t>
            </a:r>
            <a:endParaRPr lang="en-US" altLang="ko-KR" dirty="0" smtClean="0"/>
          </a:p>
          <a:p>
            <a:pPr marL="914400" lvl="1" indent="-514350"/>
            <a:r>
              <a:rPr lang="ko-KR" altLang="en-US" dirty="0" smtClean="0"/>
              <a:t>코드의 반대말</a:t>
            </a:r>
            <a:endParaRPr lang="en-US" altLang="ko-KR" dirty="0" smtClean="0"/>
          </a:p>
          <a:p>
            <a:pPr marL="914400" lvl="1" indent="-514350"/>
            <a:r>
              <a:rPr lang="ko-KR" altLang="en-US" dirty="0" smtClean="0"/>
              <a:t>프로그램에서 필요로 하는 </a:t>
            </a:r>
            <a:r>
              <a:rPr lang="ko-KR" altLang="en-US" dirty="0" err="1" smtClean="0"/>
              <a:t>여러가지</a:t>
            </a:r>
            <a:r>
              <a:rPr lang="ko-KR" altLang="en-US" dirty="0" smtClean="0"/>
              <a:t> 데이터 </a:t>
            </a:r>
            <a:r>
              <a:rPr lang="en-US" altLang="ko-KR" dirty="0" smtClean="0"/>
              <a:t>ex) </a:t>
            </a:r>
            <a:r>
              <a:rPr lang="ko-KR" altLang="en-US" dirty="0" smtClean="0"/>
              <a:t>비트맵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아이콘</a:t>
            </a:r>
            <a:r>
              <a:rPr lang="en-US" altLang="ko-KR" dirty="0" smtClean="0"/>
              <a:t>…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3925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 방법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SDK</a:t>
            </a:r>
          </a:p>
          <a:p>
            <a:pPr lvl="1"/>
            <a:r>
              <a:rPr lang="ko-KR" altLang="en-US" dirty="0" smtClean="0"/>
              <a:t>윈도우용 프로그램 개발 </a:t>
            </a:r>
            <a:r>
              <a:rPr lang="ko-KR" altLang="en-US" dirty="0" err="1" smtClean="0"/>
              <a:t>킷</a:t>
            </a:r>
            <a:r>
              <a:rPr lang="en-US" altLang="ko-KR" dirty="0" smtClean="0"/>
              <a:t>(</a:t>
            </a:r>
            <a:r>
              <a:rPr lang="ko-KR" altLang="en-US" dirty="0" smtClean="0"/>
              <a:t>원론적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클래스 라이브</a:t>
            </a:r>
            <a:r>
              <a:rPr lang="ko-KR" altLang="en-US" dirty="0"/>
              <a:t>러</a:t>
            </a:r>
            <a:r>
              <a:rPr lang="ko-KR" altLang="en-US" dirty="0" smtClean="0"/>
              <a:t>리</a:t>
            </a:r>
            <a:r>
              <a:rPr lang="en-US" altLang="ko-KR" dirty="0" smtClean="0"/>
              <a:t>(API</a:t>
            </a:r>
            <a:r>
              <a:rPr lang="ko-KR" altLang="en-US" dirty="0" smtClean="0"/>
              <a:t>의 클래스 </a:t>
            </a:r>
            <a:r>
              <a:rPr lang="en-US" altLang="ko-KR" dirty="0" smtClean="0"/>
              <a:t>Package)</a:t>
            </a:r>
          </a:p>
          <a:p>
            <a:pPr lvl="1"/>
            <a:r>
              <a:rPr lang="ko-KR" altLang="en-US" dirty="0" smtClean="0"/>
              <a:t>전문 개발자용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Why?  </a:t>
            </a:r>
            <a:r>
              <a:rPr lang="ko-KR" altLang="en-US" dirty="0" smtClean="0"/>
              <a:t>배우기가 어려움</a:t>
            </a:r>
            <a:endParaRPr lang="en-US" altLang="ko-KR" dirty="0" smtClean="0"/>
          </a:p>
          <a:p>
            <a:r>
              <a:rPr lang="ko-KR" altLang="en-US" dirty="0" err="1" smtClean="0"/>
              <a:t>비주얼</a:t>
            </a:r>
            <a:r>
              <a:rPr lang="ko-KR" altLang="en-US" dirty="0" smtClean="0"/>
              <a:t> 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편리함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Why? </a:t>
            </a:r>
            <a:r>
              <a:rPr lang="ko-KR" altLang="en-US" dirty="0" smtClean="0"/>
              <a:t>툴</a:t>
            </a:r>
            <a:r>
              <a:rPr lang="en-US" altLang="ko-KR" dirty="0" smtClean="0"/>
              <a:t>(</a:t>
            </a:r>
            <a:r>
              <a:rPr lang="ko-KR" altLang="en-US" dirty="0" smtClean="0"/>
              <a:t>자동화</a:t>
            </a:r>
            <a:r>
              <a:rPr lang="en-US" altLang="ko-KR" dirty="0" smtClean="0"/>
              <a:t>) -&gt; </a:t>
            </a:r>
            <a:r>
              <a:rPr lang="ko-KR" altLang="en-US" dirty="0" smtClean="0"/>
              <a:t>단점</a:t>
            </a:r>
            <a:r>
              <a:rPr lang="en-US" altLang="ko-KR" dirty="0" smtClean="0"/>
              <a:t>: </a:t>
            </a:r>
            <a:r>
              <a:rPr lang="ko-KR" altLang="en-US" dirty="0" smtClean="0"/>
              <a:t>무겁고 느림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538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핸들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Handle </a:t>
            </a:r>
            <a:r>
              <a:rPr lang="ko-KR" altLang="en-US" dirty="0" smtClean="0"/>
              <a:t>이란</a:t>
            </a:r>
            <a:r>
              <a:rPr lang="en-US" altLang="ko-KR" dirty="0" smtClean="0"/>
              <a:t>?</a:t>
            </a:r>
          </a:p>
          <a:p>
            <a:pPr lvl="1"/>
            <a:r>
              <a:rPr lang="ko-KR" altLang="en-US" dirty="0" smtClean="0"/>
              <a:t>구체적인 어떤 대상에 붙여진 번호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문법적으로 </a:t>
            </a:r>
            <a:r>
              <a:rPr lang="en-US" altLang="ko-KR" dirty="0" smtClean="0"/>
              <a:t>32bit or 64bit</a:t>
            </a:r>
            <a:r>
              <a:rPr lang="ko-KR" altLang="en-US" dirty="0" smtClean="0"/>
              <a:t>의 </a:t>
            </a:r>
            <a:r>
              <a:rPr lang="ko-KR" altLang="en-US" b="1" dirty="0" err="1" smtClean="0"/>
              <a:t>정수값</a:t>
            </a:r>
            <a:endParaRPr lang="en-US" altLang="ko-KR" b="1" dirty="0" smtClean="0"/>
          </a:p>
          <a:p>
            <a:pPr lvl="1"/>
            <a:r>
              <a:rPr lang="en-US" altLang="ko-KR" dirty="0" err="1" smtClean="0"/>
              <a:t>hWnd</a:t>
            </a:r>
            <a:r>
              <a:rPr lang="ko-KR" altLang="en-US" dirty="0" smtClean="0"/>
              <a:t>를 붙여 번호로 관리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사용자는 사용만 한다</a:t>
            </a:r>
            <a:r>
              <a:rPr lang="en-US" altLang="ko-KR" dirty="0" smtClean="0"/>
              <a:t>.</a:t>
            </a:r>
          </a:p>
          <a:p>
            <a:pPr lvl="2"/>
            <a:r>
              <a:rPr lang="en-US" altLang="ko-KR" sz="1600" dirty="0" smtClean="0"/>
              <a:t>Ex) </a:t>
            </a:r>
            <a:r>
              <a:rPr lang="ko-KR" altLang="en-US" sz="1600" dirty="0" smtClean="0"/>
              <a:t>윈도우를 만들거나 파일을 열면 운영체제는 만들어진 윈도우나 열려진 파일에 핸들을 붙이고 그 값을 리턴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사용자는 해당 윈도우나 파일을 다시 참조할 때 사용</a:t>
            </a:r>
            <a:r>
              <a:rPr lang="en-US" altLang="ko-KR" sz="1600" dirty="0" smtClean="0"/>
              <a:t>.</a:t>
            </a:r>
          </a:p>
          <a:p>
            <a:pPr lvl="1"/>
            <a:r>
              <a:rPr lang="ko-KR" altLang="en-US" dirty="0" smtClean="0"/>
              <a:t>실제로 값을 몰라도 상관 없다</a:t>
            </a:r>
            <a:r>
              <a:rPr lang="en-US" altLang="ko-KR" dirty="0" smtClean="0"/>
              <a:t>. </a:t>
            </a:r>
            <a:r>
              <a:rPr lang="en-US" altLang="ko-KR" sz="2000" dirty="0" smtClean="0"/>
              <a:t/>
            </a:r>
            <a:br>
              <a:rPr lang="en-US" altLang="ko-KR" sz="2000" dirty="0" smtClean="0"/>
            </a:br>
            <a:r>
              <a:rPr lang="en-US" altLang="ko-KR" sz="2000" dirty="0" smtClean="0"/>
              <a:t>	</a:t>
            </a:r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동적할당</a:t>
            </a:r>
            <a:r>
              <a:rPr lang="ko-KR" altLang="en-US" sz="1400" dirty="0" smtClean="0"/>
              <a:t> 후 해제 하면 그만인 것처럼 사용하기 때문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2908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비트 </a:t>
            </a:r>
            <a:r>
              <a:rPr lang="en-US" altLang="ko-KR" dirty="0" smtClean="0"/>
              <a:t>OR </a:t>
            </a:r>
            <a:r>
              <a:rPr lang="ko-KR" altLang="en-US" dirty="0" smtClean="0"/>
              <a:t>연산자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함수를 호출 할 때 보통 인수가 같이 건네지는데 이때 비트 </a:t>
            </a:r>
            <a:r>
              <a:rPr lang="en-US" altLang="ko-KR" dirty="0" smtClean="0"/>
              <a:t>OR </a:t>
            </a:r>
            <a:r>
              <a:rPr lang="ko-KR" altLang="en-US" dirty="0" smtClean="0"/>
              <a:t>연산자를 활용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Ex) </a:t>
            </a:r>
            <a:r>
              <a:rPr lang="en-US" altLang="ko-KR" sz="2400" dirty="0" smtClean="0"/>
              <a:t>DT_CENTER | DT_BOTTOM | DT_WORDBREAK</a:t>
            </a:r>
          </a:p>
          <a:p>
            <a:pPr lvl="1"/>
            <a:r>
              <a:rPr lang="en-US" altLang="ko-KR" sz="2400" dirty="0" smtClean="0"/>
              <a:t>0000 0001 | 0000 0010 | 0000 0100 -&gt; 0000 0111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95348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유니코드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16bit</a:t>
            </a:r>
            <a:r>
              <a:rPr lang="ko-KR" altLang="en-US" dirty="0" smtClean="0"/>
              <a:t>의 단일한 값</a:t>
            </a:r>
            <a:endParaRPr lang="en-US" altLang="ko-KR" dirty="0" smtClean="0"/>
          </a:p>
          <a:p>
            <a:r>
              <a:rPr lang="ko-KR" altLang="en-US" dirty="0" smtClean="0"/>
              <a:t>지구상의 모든 문자를 표현할 수 있다</a:t>
            </a:r>
            <a:r>
              <a:rPr lang="en-US" altLang="ko-KR" dirty="0" smtClean="0"/>
              <a:t>.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060394"/>
              </p:ext>
            </p:extLst>
          </p:nvPr>
        </p:nvGraphicFramePr>
        <p:xfrm>
          <a:off x="899592" y="2787069"/>
          <a:ext cx="7200800" cy="3498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/>
                <a:gridCol w="1656184"/>
                <a:gridCol w="3744416"/>
              </a:tblGrid>
              <a:tr h="3473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C </a:t>
                      </a:r>
                      <a:r>
                        <a:rPr lang="ko-KR" altLang="en-US" sz="1200" dirty="0" smtClean="0"/>
                        <a:t>표준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유니코드 지원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aseline="0" dirty="0" smtClean="0"/>
                        <a:t>기능</a:t>
                      </a:r>
                      <a:endParaRPr lang="ko-KR" altLang="en-US" sz="1200" dirty="0"/>
                    </a:p>
                  </a:txBody>
                  <a:tcPr/>
                </a:tc>
              </a:tr>
              <a:tr h="3525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Char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TCHAR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aseline="0" dirty="0" smtClean="0"/>
                        <a:t>문자형</a:t>
                      </a:r>
                      <a:endParaRPr lang="ko-KR" altLang="en-US" sz="1200" dirty="0"/>
                    </a:p>
                  </a:txBody>
                  <a:tcPr/>
                </a:tc>
              </a:tr>
              <a:tr h="3525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Char*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LPSTR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문자</a:t>
                      </a:r>
                      <a:r>
                        <a:rPr lang="ko-KR" altLang="en-US" sz="1200" baseline="0" dirty="0" smtClean="0"/>
                        <a:t> </a:t>
                      </a:r>
                      <a:r>
                        <a:rPr lang="ko-KR" altLang="en-US" sz="1200" dirty="0" smtClean="0"/>
                        <a:t>포인터 형</a:t>
                      </a:r>
                      <a:endParaRPr lang="ko-KR" altLang="en-US" sz="1200" dirty="0"/>
                    </a:p>
                  </a:txBody>
                  <a:tcPr/>
                </a:tc>
              </a:tr>
              <a:tr h="3525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Const</a:t>
                      </a:r>
                      <a:r>
                        <a:rPr lang="en-US" altLang="ko-KR" sz="1200" dirty="0" smtClean="0"/>
                        <a:t> char*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LPCTSTR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불변 문자 포인터 형</a:t>
                      </a:r>
                      <a:endParaRPr lang="ko-KR" altLang="en-US" sz="1200" dirty="0"/>
                    </a:p>
                  </a:txBody>
                  <a:tcPr/>
                </a:tc>
              </a:tr>
              <a:tr h="3891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Strlen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Lstrlen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문자열을 인수로 사용하여 길이를 반환</a:t>
                      </a:r>
                      <a:endParaRPr lang="ko-KR" altLang="en-US" sz="1200" dirty="0"/>
                    </a:p>
                  </a:txBody>
                  <a:tcPr/>
                </a:tc>
              </a:tr>
              <a:tr h="4202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Strcpy</a:t>
                      </a:r>
                      <a:r>
                        <a:rPr lang="en-US" altLang="ko-KR" sz="1200" dirty="0" smtClean="0"/>
                        <a:t>(char</a:t>
                      </a:r>
                      <a:r>
                        <a:rPr lang="en-US" altLang="ko-KR" sz="1200" baseline="0" dirty="0" smtClean="0"/>
                        <a:t>* a, char* b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Lstcpy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b</a:t>
                      </a:r>
                      <a:r>
                        <a:rPr lang="ko-KR" altLang="en-US" sz="1200" dirty="0" smtClean="0"/>
                        <a:t>의 값을 </a:t>
                      </a:r>
                      <a:r>
                        <a:rPr lang="en-US" altLang="ko-KR" sz="1200" dirty="0" smtClean="0"/>
                        <a:t>a</a:t>
                      </a:r>
                      <a:r>
                        <a:rPr lang="ko-KR" altLang="en-US" sz="1200" dirty="0" smtClean="0"/>
                        <a:t>에 반환합니다</a:t>
                      </a:r>
                      <a:r>
                        <a:rPr lang="en-US" altLang="ko-KR" sz="1200" dirty="0" smtClean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</a:tr>
              <a:tr h="3525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Strcat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Lstrcat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/>
                        <a:t>두 문자열 결합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연결</a:t>
                      </a:r>
                      <a:r>
                        <a:rPr lang="en-US" altLang="ko-KR" sz="1200" dirty="0" smtClean="0"/>
                        <a:t>)</a:t>
                      </a:r>
                      <a:r>
                        <a:rPr lang="ko-KR" altLang="en-US" sz="1200" dirty="0" smtClean="0"/>
                        <a:t>을 반환</a:t>
                      </a:r>
                    </a:p>
                  </a:txBody>
                  <a:tcPr/>
                </a:tc>
              </a:tr>
              <a:tr h="3525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Strcmp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lstrcmp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aseline="0" dirty="0" smtClean="0"/>
                        <a:t>두 문자열을 비교하여 값을 반환 </a:t>
                      </a:r>
                      <a:r>
                        <a:rPr lang="en-US" altLang="ko-KR" sz="1000" baseline="0" dirty="0" smtClean="0"/>
                        <a:t>(</a:t>
                      </a:r>
                      <a:r>
                        <a:rPr lang="ko-KR" altLang="en-US" sz="1000" baseline="0" dirty="0" smtClean="0"/>
                        <a:t>同면 </a:t>
                      </a:r>
                      <a:r>
                        <a:rPr lang="en-US" altLang="ko-KR" sz="1000" baseline="0" dirty="0" smtClean="0"/>
                        <a:t>0, </a:t>
                      </a:r>
                      <a:r>
                        <a:rPr lang="ko-KR" altLang="en-US" sz="1000" baseline="0" dirty="0" smtClean="0"/>
                        <a:t>일치하지 않는 첫 번째 문자의 </a:t>
                      </a:r>
                      <a:r>
                        <a:rPr lang="en-US" altLang="ko-KR" sz="1000" baseline="0" dirty="0" smtClean="0"/>
                        <a:t>ASCII </a:t>
                      </a:r>
                      <a:r>
                        <a:rPr lang="ko-KR" altLang="en-US" sz="1000" baseline="0" dirty="0" smtClean="0"/>
                        <a:t>값이 </a:t>
                      </a:r>
                      <a:r>
                        <a:rPr lang="en-US" altLang="ko-KR" sz="1000" baseline="0" dirty="0" smtClean="0"/>
                        <a:t>2</a:t>
                      </a:r>
                      <a:r>
                        <a:rPr lang="ko-KR" altLang="en-US" sz="1000" baseline="0" dirty="0" smtClean="0"/>
                        <a:t>보다 작으면 음의 정수</a:t>
                      </a:r>
                      <a:r>
                        <a:rPr lang="en-US" altLang="ko-KR" sz="1000" baseline="0" dirty="0" smtClean="0"/>
                        <a:t>, </a:t>
                      </a:r>
                      <a:r>
                        <a:rPr lang="ko-KR" altLang="en-US" sz="1000" baseline="0" dirty="0" smtClean="0"/>
                        <a:t>일치하지 않는 첫 번째 문자의  </a:t>
                      </a:r>
                      <a:r>
                        <a:rPr lang="en-US" altLang="ko-KR" sz="1000" baseline="0" dirty="0" smtClean="0"/>
                        <a:t>ASCII</a:t>
                      </a:r>
                      <a:r>
                        <a:rPr lang="ko-KR" altLang="en-US" sz="1000" baseline="0" dirty="0" smtClean="0"/>
                        <a:t>값이 </a:t>
                      </a:r>
                      <a:r>
                        <a:rPr lang="en-US" altLang="ko-KR" sz="1000" baseline="0" dirty="0" smtClean="0"/>
                        <a:t>2</a:t>
                      </a:r>
                      <a:r>
                        <a:rPr lang="ko-KR" altLang="en-US" sz="1000" baseline="0" dirty="0" smtClean="0"/>
                        <a:t>보다 크면 양의 정수</a:t>
                      </a:r>
                      <a:r>
                        <a:rPr lang="en-US" altLang="ko-KR" sz="1000" baseline="0" dirty="0" smtClean="0"/>
                        <a:t>)</a:t>
                      </a:r>
                      <a:endParaRPr lang="ko-KR" altLang="en-US" sz="1000" dirty="0"/>
                    </a:p>
                  </a:txBody>
                  <a:tcPr/>
                </a:tc>
              </a:tr>
              <a:tr h="3525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Sprintf</a:t>
                      </a:r>
                      <a:r>
                        <a:rPr lang="en-US" altLang="ko-KR" sz="1200" dirty="0" smtClean="0"/>
                        <a:t>(buffer,</a:t>
                      </a:r>
                      <a:r>
                        <a:rPr lang="en-US" altLang="ko-KR" sz="1200" baseline="0" dirty="0" smtClean="0"/>
                        <a:t> “ “, a)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wsprintf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buffer</a:t>
                      </a:r>
                      <a:r>
                        <a:rPr lang="ko-KR" altLang="en-US" sz="1200" dirty="0" smtClean="0"/>
                        <a:t>에 문자열 인쇄</a:t>
                      </a:r>
                      <a:endParaRPr lang="ko-KR" alt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71600" y="6381328"/>
            <a:ext cx="7344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hlinkClick r:id="rId2"/>
              </a:rPr>
              <a:t>https://stackoverflow.com/questions/9834067/difference-between-char-and-const-char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586820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유니코드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smtClean="0"/>
              <a:t>TCHAR* </a:t>
            </a:r>
            <a:r>
              <a:rPr lang="en-US" altLang="ko-KR" dirty="0" err="1" smtClean="0"/>
              <a:t>str</a:t>
            </a:r>
            <a:r>
              <a:rPr lang="en-US" altLang="ko-KR" dirty="0" smtClean="0"/>
              <a:t>=“string”; //</a:t>
            </a:r>
            <a:r>
              <a:rPr lang="ko-KR" altLang="en-US" dirty="0" smtClean="0"/>
              <a:t>이렇게 </a:t>
            </a:r>
            <a:r>
              <a:rPr lang="ko-KR" altLang="en-US" dirty="0" err="1" smtClean="0"/>
              <a:t>쓰지말고</a:t>
            </a:r>
            <a:endParaRPr lang="en-US" altLang="ko-KR" dirty="0" smtClean="0"/>
          </a:p>
          <a:p>
            <a:r>
              <a:rPr lang="en-US" altLang="ko-KR" dirty="0" smtClean="0"/>
              <a:t>TCHAR* </a:t>
            </a:r>
            <a:r>
              <a:rPr lang="en-US" altLang="ko-KR" dirty="0" err="1" smtClean="0"/>
              <a:t>str</a:t>
            </a:r>
            <a:r>
              <a:rPr lang="en-US" altLang="ko-KR" dirty="0" smtClean="0"/>
              <a:t>=TEXT(“string”); // TEXT</a:t>
            </a:r>
            <a:r>
              <a:rPr lang="ko-KR" altLang="en-US" dirty="0" smtClean="0"/>
              <a:t>매크로 안에 문자열 상수를 쓴다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/>
              <a:t>TEXT</a:t>
            </a:r>
            <a:r>
              <a:rPr lang="ko-KR" altLang="en-US" dirty="0"/>
              <a:t> </a:t>
            </a:r>
            <a:r>
              <a:rPr lang="ko-KR" altLang="en-US" dirty="0" smtClean="0"/>
              <a:t>매크로는 유니코드 설정에 따라 문자열 상수의 타입을 변경한다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유니코드로 컴파일 할 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문자가 </a:t>
            </a:r>
            <a:r>
              <a:rPr lang="en-US" altLang="ko-KR" dirty="0" smtClean="0"/>
              <a:t>16</a:t>
            </a:r>
            <a:r>
              <a:rPr lang="ko-KR" altLang="en-US" dirty="0" smtClean="0"/>
              <a:t>비트의 유니코드 문자가 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그렇지 않을 때</a:t>
            </a:r>
            <a:r>
              <a:rPr lang="en-US" altLang="ko-KR" dirty="0" smtClean="0"/>
              <a:t>, 8</a:t>
            </a:r>
            <a:r>
              <a:rPr lang="ko-KR" altLang="en-US" dirty="0" smtClean="0"/>
              <a:t>비트의 </a:t>
            </a:r>
            <a:r>
              <a:rPr lang="en-US" altLang="ko-KR" dirty="0" smtClean="0"/>
              <a:t>ANSI</a:t>
            </a:r>
            <a:r>
              <a:rPr lang="ko-KR" altLang="en-US" dirty="0" smtClean="0"/>
              <a:t>문자가 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317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64bit API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 smtClean="0"/>
              <a:t>Void </a:t>
            </a:r>
            <a:r>
              <a:rPr lang="en-US" altLang="ko-KR" sz="1800" dirty="0" err="1" smtClean="0"/>
              <a:t>DisplayInfo</a:t>
            </a:r>
            <a:r>
              <a:rPr lang="en-US" altLang="ko-KR" sz="1800" dirty="0" smtClean="0"/>
              <a:t>(</a:t>
            </a:r>
            <a:r>
              <a:rPr lang="en-US" altLang="ko-KR" sz="1800" dirty="0" err="1" smtClean="0"/>
              <a:t>int</a:t>
            </a:r>
            <a:r>
              <a:rPr lang="en-US" altLang="ko-KR" sz="1800" dirty="0" smtClean="0"/>
              <a:t> Type, </a:t>
            </a:r>
            <a:r>
              <a:rPr lang="en-US" altLang="ko-KR" sz="1800" dirty="0" err="1" smtClean="0"/>
              <a:t>int</a:t>
            </a:r>
            <a:r>
              <a:rPr lang="en-US" altLang="ko-KR" sz="1800" dirty="0" smtClean="0"/>
              <a:t> Value){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 smtClean="0"/>
              <a:t>	TCHAR Info[128];</a:t>
            </a:r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800" dirty="0" smtClean="0"/>
              <a:t>switch(Type){</a:t>
            </a:r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800" dirty="0" smtClean="0"/>
              <a:t>case 1:</a:t>
            </a:r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800" dirty="0" smtClean="0"/>
              <a:t>	</a:t>
            </a:r>
            <a:r>
              <a:rPr lang="en-US" altLang="ko-KR" sz="1800" dirty="0" err="1" smtClean="0"/>
              <a:t>wsprintf</a:t>
            </a:r>
            <a:r>
              <a:rPr lang="en-US" altLang="ko-KR" sz="1800" dirty="0" smtClean="0"/>
              <a:t>(Info,”</a:t>
            </a:r>
            <a:r>
              <a:rPr lang="ko-KR" altLang="en-US" sz="1800" dirty="0" smtClean="0"/>
              <a:t>나이는 </a:t>
            </a:r>
            <a:r>
              <a:rPr lang="en-US" altLang="ko-KR" sz="1800" dirty="0" smtClean="0"/>
              <a:t>%d</a:t>
            </a:r>
            <a:r>
              <a:rPr lang="ko-KR" altLang="en-US" sz="1800" dirty="0" smtClean="0"/>
              <a:t>입니다</a:t>
            </a:r>
            <a:r>
              <a:rPr lang="en-US" altLang="ko-KR" sz="1800" dirty="0" smtClean="0"/>
              <a:t>.”,Value);</a:t>
            </a:r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800" dirty="0" smtClean="0"/>
              <a:t>	break;</a:t>
            </a:r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800" dirty="0" smtClean="0"/>
              <a:t>case 2:</a:t>
            </a:r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800" dirty="0" smtClean="0"/>
              <a:t>	</a:t>
            </a:r>
            <a:r>
              <a:rPr lang="en-US" altLang="ko-KR" sz="1800" dirty="0" err="1" smtClean="0"/>
              <a:t>wsprintf</a:t>
            </a:r>
            <a:r>
              <a:rPr lang="en-US" altLang="ko-KR" sz="1800" dirty="0" smtClean="0"/>
              <a:t>(Info, “</a:t>
            </a:r>
            <a:r>
              <a:rPr lang="ko-KR" altLang="en-US" sz="1800" dirty="0" smtClean="0"/>
              <a:t>이름은 </a:t>
            </a:r>
            <a:r>
              <a:rPr lang="en-US" altLang="ko-KR" sz="1800" dirty="0" smtClean="0"/>
              <a:t>%d</a:t>
            </a:r>
            <a:r>
              <a:rPr lang="ko-KR" altLang="en-US" sz="1800" dirty="0" smtClean="0"/>
              <a:t>입니다</a:t>
            </a:r>
            <a:r>
              <a:rPr lang="en-US" altLang="ko-KR" sz="1800" dirty="0" smtClean="0"/>
              <a:t>.”, (TCAHR*)Value);</a:t>
            </a:r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800" dirty="0" smtClean="0"/>
              <a:t>	break;</a:t>
            </a:r>
          </a:p>
          <a:p>
            <a:pPr marL="0" indent="0">
              <a:buNone/>
            </a:pPr>
            <a:r>
              <a:rPr lang="en-US" altLang="ko-KR" sz="1800" dirty="0" smtClean="0"/>
              <a:t>	}</a:t>
            </a:r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800" dirty="0" err="1" smtClean="0"/>
              <a:t>MessageBox</a:t>
            </a:r>
            <a:r>
              <a:rPr lang="en-US" altLang="ko-KR" sz="1800" dirty="0" smtClean="0"/>
              <a:t>(</a:t>
            </a:r>
            <a:r>
              <a:rPr lang="en-US" altLang="ko-KR" sz="1800" dirty="0" err="1" smtClean="0"/>
              <a:t>hWnd</a:t>
            </a:r>
            <a:r>
              <a:rPr lang="en-US" altLang="ko-KR" sz="1800" dirty="0" smtClean="0"/>
              <a:t>, Ingo, “</a:t>
            </a:r>
            <a:r>
              <a:rPr lang="ko-KR" altLang="en-US" sz="1800" dirty="0" smtClean="0"/>
              <a:t>정보</a:t>
            </a:r>
            <a:r>
              <a:rPr lang="en-US" altLang="ko-KR" sz="1800" dirty="0" smtClean="0"/>
              <a:t>”,MB_OK);</a:t>
            </a:r>
          </a:p>
          <a:p>
            <a:pPr marL="0" indent="0">
              <a:buNone/>
            </a:pPr>
            <a:r>
              <a:rPr lang="en-US" altLang="ko-KR" sz="1800" dirty="0"/>
              <a:t>}</a:t>
            </a:r>
            <a:endParaRPr lang="en-US" altLang="ko-KR" sz="1800" dirty="0" smtClean="0"/>
          </a:p>
          <a:p>
            <a:pPr marL="0" indent="0">
              <a:buNone/>
            </a:pPr>
            <a:endParaRPr lang="ko-KR" alt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3563888" y="1988840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정보의 종류 지정</a:t>
            </a:r>
            <a:endParaRPr lang="ko-KR" altLang="en-US" dirty="0"/>
          </a:p>
        </p:txBody>
      </p:sp>
      <p:cxnSp>
        <p:nvCxnSpPr>
          <p:cNvPr id="6" name="직선 화살표 연결선 5"/>
          <p:cNvCxnSpPr/>
          <p:nvPr/>
        </p:nvCxnSpPr>
        <p:spPr>
          <a:xfrm flipV="1">
            <a:off x="2699792" y="2173506"/>
            <a:ext cx="1008112" cy="46340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72200" y="2780928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실제 출력할 데이터</a:t>
            </a:r>
            <a:endParaRPr lang="ko-KR" altLang="en-US" dirty="0"/>
          </a:p>
        </p:txBody>
      </p:sp>
      <p:cxnSp>
        <p:nvCxnSpPr>
          <p:cNvPr id="10" name="직선 화살표 연결선 9"/>
          <p:cNvCxnSpPr>
            <a:endCxn id="9" idx="2"/>
          </p:cNvCxnSpPr>
          <p:nvPr/>
        </p:nvCxnSpPr>
        <p:spPr>
          <a:xfrm flipV="1">
            <a:off x="7164288" y="3150260"/>
            <a:ext cx="468052" cy="114283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2123728" y="2636912"/>
            <a:ext cx="576064" cy="328682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816852" y="4293096"/>
            <a:ext cx="630070" cy="2880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816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64bit API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smtClean="0"/>
              <a:t>함수를 호출 할 때는 형식 인수의 타입에 맞게 </a:t>
            </a:r>
            <a:r>
              <a:rPr lang="ko-KR" altLang="en-US" sz="1800" dirty="0" err="1" smtClean="0"/>
              <a:t>실인수를</a:t>
            </a:r>
            <a:r>
              <a:rPr lang="ko-KR" altLang="en-US" sz="1800" dirty="0" smtClean="0"/>
              <a:t> 캐스팅 </a:t>
            </a:r>
            <a:r>
              <a:rPr lang="ko-KR" altLang="en-US" sz="1800" dirty="0" err="1" smtClean="0"/>
              <a:t>해야한다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92916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69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69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371</Words>
  <Application>Microsoft Office PowerPoint</Application>
  <PresentationFormat>화면 슬라이드 쇼(4:3)</PresentationFormat>
  <Paragraphs>95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윈도우즈 Api 정복</vt:lpstr>
      <vt:lpstr>API의 특장점</vt:lpstr>
      <vt:lpstr>개발 방법</vt:lpstr>
      <vt:lpstr>핸들</vt:lpstr>
      <vt:lpstr>비트 OR 연산자</vt:lpstr>
      <vt:lpstr>유니코드</vt:lpstr>
      <vt:lpstr>유니코드</vt:lpstr>
      <vt:lpstr>64bit API</vt:lpstr>
      <vt:lpstr>64bit API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윈도우즈 Api 정복</dc:title>
  <dc:creator>USER</dc:creator>
  <cp:lastModifiedBy>USER</cp:lastModifiedBy>
  <cp:revision>15</cp:revision>
  <dcterms:created xsi:type="dcterms:W3CDTF">2020-02-05T04:43:52Z</dcterms:created>
  <dcterms:modified xsi:type="dcterms:W3CDTF">2020-02-12T08:12:38Z</dcterms:modified>
</cp:coreProperties>
</file>